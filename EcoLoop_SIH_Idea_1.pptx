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357335-221F-45CB-9198-2139AA73A9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8A88A7-75E1-4B6F-80EF-234AF326099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6A91A0-3FBF-4AAF-AD97-15D565C209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95C8AB-E31F-4B21-904B-EC9C0F7FD05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C8D892-5614-46C9-9415-487C7FE011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60901D-76CF-4579-8922-0E5C470B96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1C030B-317D-48A1-B3E2-49D228697527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E471FE-D94B-480F-8D7A-C8F878E4F17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6FAFC1-20AC-4B2B-BF96-E5D772BFC0E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124F58-68E0-4F48-9642-F25B437EA65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CD11AD-092A-4283-B386-4603466441D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495805-A616-474F-B352-BD158D2A3CE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56CD34-FF86-4835-A5C3-EC62C136FD5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A916E1-B3B8-4B2E-A111-61F08A2E5D5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2D773A-F029-40EC-96A8-31586DCF1C6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00D516-8576-41C3-9296-4CDB8D4C7A5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5A4949-7785-4B16-BB4D-96C36C98022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6"/>
          <p:cNvSpPr/>
          <p:nvPr/>
        </p:nvSpPr>
        <p:spPr>
          <a:xfrm>
            <a:off x="8046720" y="-1097280"/>
            <a:ext cx="3840120" cy="3840120"/>
          </a:xfrm>
          <a:prstGeom prst="ellipse">
            <a:avLst/>
          </a:prstGeom>
          <a:solidFill>
            <a:srgbClr val="244A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7"/>
          <p:cNvSpPr/>
          <p:nvPr/>
        </p:nvSpPr>
        <p:spPr>
          <a:xfrm>
            <a:off x="8595360" y="-548640"/>
            <a:ext cx="2742840" cy="2742840"/>
          </a:xfrm>
          <a:prstGeom prst="ellipse">
            <a:avLst/>
          </a:prstGeom>
          <a:solidFill>
            <a:srgbClr val="244A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Oval 8"/>
          <p:cNvSpPr/>
          <p:nvPr/>
        </p:nvSpPr>
        <p:spPr>
          <a:xfrm>
            <a:off x="9098280" y="-45720"/>
            <a:ext cx="1737000" cy="1737000"/>
          </a:xfrm>
          <a:prstGeom prst="ellipse">
            <a:avLst/>
          </a:prstGeom>
          <a:solidFill>
            <a:srgbClr val="244A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Oval 9"/>
          <p:cNvSpPr/>
          <p:nvPr/>
        </p:nvSpPr>
        <p:spPr>
          <a:xfrm>
            <a:off x="822960" y="1051560"/>
            <a:ext cx="822600" cy="8226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leaf.png"/>
          <p:cNvPicPr/>
          <p:nvPr/>
        </p:nvPicPr>
        <p:blipFill>
          <a:blip r:embed="rId1"/>
          <a:stretch/>
        </p:blipFill>
        <p:spPr>
          <a:xfrm>
            <a:off x="1036800" y="126540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822960" y="205740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Eco-Loop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6600" b="1" u="none" strike="noStrike">
                <a:solidFill>
                  <a:srgbClr val="7CB38C"/>
                </a:solidFill>
                <a:effectLst/>
                <a:uFillTx/>
                <a:latin typeface="Bookman Old Style"/>
                <a:ea typeface="ＭＳ Ｐゴシック"/>
              </a:rPr>
              <a:t>Building Agents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68680" y="397764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A live autonomous closed loop: an open-source LLM reads a running EnergyPlus building,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reasons over comfort · energy · carbon through MCP, and steers it in real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868680" y="5257800"/>
            <a:ext cx="3331800" cy="566640"/>
          </a:xfrm>
          <a:prstGeom prst="roundRect">
            <a:avLst>
              <a:gd name="adj" fmla="val 50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Theme: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Clean &amp; Green Tech / Smart Automation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4402080" y="5257800"/>
            <a:ext cx="1817640" cy="566640"/>
          </a:xfrm>
          <a:prstGeom prst="roundRect">
            <a:avLst>
              <a:gd name="adj" fmla="val 50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PS Category: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Software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5"/>
          <p:cNvSpPr/>
          <p:nvPr/>
        </p:nvSpPr>
        <p:spPr>
          <a:xfrm>
            <a:off x="6420960" y="5257800"/>
            <a:ext cx="1883160" cy="566640"/>
          </a:xfrm>
          <a:prstGeom prst="roundRect">
            <a:avLst>
              <a:gd name="adj" fmla="val 50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Student: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Sujal Sakhare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8505720" y="5257800"/>
            <a:ext cx="1488240" cy="566640"/>
          </a:xfrm>
          <a:prstGeom prst="roundRect">
            <a:avLst>
              <a:gd name="adj" fmla="val 50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PS ID: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[ enter 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7"/>
          <p:cNvSpPr/>
          <p:nvPr/>
        </p:nvSpPr>
        <p:spPr>
          <a:xfrm>
            <a:off x="10195560" y="5257800"/>
            <a:ext cx="1817640" cy="566640"/>
          </a:xfrm>
          <a:prstGeom prst="roundRect">
            <a:avLst>
              <a:gd name="adj" fmla="val 50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Student ID: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[ enter 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7088DC4-CA10-4878-A6EB-DA8BEA4F37E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3F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9B377E-E392-4F02-ABE0-2F4B104F7D43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Oval 8"/>
          <p:cNvSpPr/>
          <p:nvPr/>
        </p:nvSpPr>
        <p:spPr>
          <a:xfrm>
            <a:off x="50292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502920" y="384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01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1207080" y="384120"/>
            <a:ext cx="8686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12291E"/>
                </a:solidFill>
                <a:effectLst/>
                <a:uFillTx/>
                <a:latin typeface="Bookman Old Style"/>
                <a:ea typeface="ＭＳ Ｐゴシック"/>
              </a:rPr>
              <a:t>The Idea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11"/>
          <p:cNvSpPr/>
          <p:nvPr/>
        </p:nvSpPr>
        <p:spPr>
          <a:xfrm>
            <a:off x="1110996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12" descr="leaf.png"/>
          <p:cNvPicPr/>
          <p:nvPr/>
        </p:nvPicPr>
        <p:blipFill>
          <a:blip r:embed="rId1"/>
          <a:stretch/>
        </p:blipFill>
        <p:spPr>
          <a:xfrm>
            <a:off x="11257200" y="531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ounded Rectangle 13"/>
          <p:cNvSpPr/>
          <p:nvPr/>
        </p:nvSpPr>
        <p:spPr>
          <a:xfrm>
            <a:off x="502920" y="1234440"/>
            <a:ext cx="5257440" cy="173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THE PROBLEM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Buildings are </a:t>
            </a: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~40% of global energy use</a:t>
            </a: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, yet Building Management Systems run </a:t>
            </a:r>
            <a:r>
              <a:rPr lang="en-US" sz="1350" b="1" u="none" strike="noStrike">
                <a:solidFill>
                  <a:srgbClr val="B0453C"/>
                </a:solidFill>
                <a:effectLst/>
                <a:uFillTx/>
                <a:latin typeface="Calibri"/>
                <a:ea typeface="ＭＳ Ｐゴシック"/>
              </a:rPr>
              <a:t>rigid fixed schedules</a:t>
            </a: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 — blind to live weather, occupancy and grid carbon.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4"/>
          <p:cNvSpPr/>
          <p:nvPr/>
        </p:nvSpPr>
        <p:spPr>
          <a:xfrm>
            <a:off x="502920" y="3154680"/>
            <a:ext cx="5257440" cy="242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THE SOLUTION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A local open-source LLM (</a:t>
            </a: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qwen2.5:7b</a:t>
            </a: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) becomes the building's energy manager. Every simulated hour it reads live EnergyPlus sensors over an </a:t>
            </a: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MCP tool bus</a:t>
            </a: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 and injects next-hour set-points into the </a:t>
            </a:r>
            <a:r>
              <a:rPr lang="en-US" sz="1350" b="1" i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running</a:t>
            </a:r>
            <a:r>
              <a:rPr lang="en-US" sz="13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 simulation.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sense → summarise → decide → validate + clamp → actuate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6172200" y="123444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WHY IT'S NOVEL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val 16"/>
          <p:cNvSpPr/>
          <p:nvPr/>
        </p:nvSpPr>
        <p:spPr>
          <a:xfrm>
            <a:off x="6172200" y="1664280"/>
            <a:ext cx="475200" cy="4752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17" descr="brain.png"/>
          <p:cNvPicPr/>
          <p:nvPr/>
        </p:nvPicPr>
        <p:blipFill>
          <a:blip r:embed="rId2"/>
          <a:stretch/>
        </p:blipFill>
        <p:spPr>
          <a:xfrm>
            <a:off x="6295680" y="17877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18"/>
          <p:cNvSpPr/>
          <p:nvPr/>
        </p:nvSpPr>
        <p:spPr>
          <a:xfrm>
            <a:off x="6812280" y="1627560"/>
            <a:ext cx="502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Local LLM in the loop  </a:t>
            </a: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No cloud, no API cost — runs fully offline.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val 19"/>
          <p:cNvSpPr/>
          <p:nvPr/>
        </p:nvSpPr>
        <p:spPr>
          <a:xfrm>
            <a:off x="6172200" y="2468880"/>
            <a:ext cx="475200" cy="4752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20" descr="sync.png"/>
          <p:cNvPicPr/>
          <p:nvPr/>
        </p:nvPicPr>
        <p:blipFill>
          <a:blip r:embed="rId3"/>
          <a:stretch/>
        </p:blipFill>
        <p:spPr>
          <a:xfrm>
            <a:off x="6295680" y="25923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21"/>
          <p:cNvSpPr/>
          <p:nvPr/>
        </p:nvSpPr>
        <p:spPr>
          <a:xfrm>
            <a:off x="6812280" y="2432160"/>
            <a:ext cx="502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Self-correcting  </a:t>
            </a: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Prior-hour comfort violations + .err tail feed the next prompt.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val 22"/>
          <p:cNvSpPr/>
          <p:nvPr/>
        </p:nvSpPr>
        <p:spPr>
          <a:xfrm>
            <a:off x="6172200" y="3273480"/>
            <a:ext cx="475200" cy="4752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23" descr="shield.png"/>
          <p:cNvPicPr/>
          <p:nvPr/>
        </p:nvPicPr>
        <p:blipFill>
          <a:blip r:embed="rId4"/>
          <a:stretch/>
        </p:blipFill>
        <p:spPr>
          <a:xfrm>
            <a:off x="6295680" y="33973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24"/>
          <p:cNvSpPr/>
          <p:nvPr/>
        </p:nvSpPr>
        <p:spPr>
          <a:xfrm>
            <a:off x="6812280" y="3237120"/>
            <a:ext cx="502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Provably crash-free  </a:t>
            </a: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Every call has a timeout + clamped rule fallback.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25"/>
          <p:cNvSpPr/>
          <p:nvPr/>
        </p:nvSpPr>
        <p:spPr>
          <a:xfrm>
            <a:off x="6172200" y="4078080"/>
            <a:ext cx="475200" cy="4752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26" descr="leaf.png"/>
          <p:cNvPicPr/>
          <p:nvPr/>
        </p:nvPicPr>
        <p:blipFill>
          <a:blip r:embed="rId5"/>
          <a:stretch/>
        </p:blipFill>
        <p:spPr>
          <a:xfrm>
            <a:off x="6295680" y="42019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27"/>
          <p:cNvSpPr/>
          <p:nvPr/>
        </p:nvSpPr>
        <p:spPr>
          <a:xfrm>
            <a:off x="6812280" y="4041720"/>
            <a:ext cx="502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Carbon-aware  </a:t>
            </a: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Relaxes cooling when grid gCO₂/kWh is high.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28"/>
          <p:cNvSpPr/>
          <p:nvPr/>
        </p:nvSpPr>
        <p:spPr>
          <a:xfrm>
            <a:off x="6172200" y="4883040"/>
            <a:ext cx="475200" cy="47520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29" descr="clock.png"/>
          <p:cNvPicPr/>
          <p:nvPr/>
        </p:nvPicPr>
        <p:blipFill>
          <a:blip r:embed="rId6"/>
          <a:stretch/>
        </p:blipFill>
        <p:spPr>
          <a:xfrm>
            <a:off x="6295680" y="50065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30"/>
          <p:cNvSpPr/>
          <p:nvPr/>
        </p:nvSpPr>
        <p:spPr>
          <a:xfrm>
            <a:off x="6812280" y="4846320"/>
            <a:ext cx="502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Two-clock design  </a:t>
            </a: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Fast sim &amp; slow LLM decoupled by shared state.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31"/>
          <p:cNvSpPr/>
          <p:nvPr/>
        </p:nvSpPr>
        <p:spPr>
          <a:xfrm>
            <a:off x="502920" y="5806440"/>
            <a:ext cx="2568960" cy="658080"/>
          </a:xfrm>
          <a:prstGeom prst="roundRect">
            <a:avLst>
              <a:gd name="adj" fmla="val 12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7CB38C"/>
                </a:solidFill>
                <a:effectLst/>
                <a:uFillTx/>
                <a:latin typeface="Bookman Old Style"/>
                <a:ea typeface="ＭＳ Ｐゴシック"/>
              </a:rPr>
              <a:t>−8.4%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energy vs baseline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32"/>
          <p:cNvSpPr/>
          <p:nvPr/>
        </p:nvSpPr>
        <p:spPr>
          <a:xfrm>
            <a:off x="3374280" y="5806440"/>
            <a:ext cx="2568960" cy="658080"/>
          </a:xfrm>
          <a:prstGeom prst="roundRect">
            <a:avLst>
              <a:gd name="adj" fmla="val 12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7CB38C"/>
                </a:solidFill>
                <a:effectLst/>
                <a:uFillTx/>
                <a:latin typeface="Bookman Old Style"/>
                <a:ea typeface="ＭＳ Ｐゴシック"/>
              </a:rPr>
              <a:t>−8.5%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carbon vs baseline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33"/>
          <p:cNvSpPr/>
          <p:nvPr/>
        </p:nvSpPr>
        <p:spPr>
          <a:xfrm>
            <a:off x="6245280" y="5806440"/>
            <a:ext cx="2568960" cy="658080"/>
          </a:xfrm>
          <a:prstGeom prst="roundRect">
            <a:avLst>
              <a:gd name="adj" fmla="val 12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7CB38C"/>
                </a:solidFill>
                <a:effectLst/>
                <a:uFillTx/>
                <a:latin typeface="Bookman Old Style"/>
                <a:ea typeface="ＭＳ Ｐゴシック"/>
              </a:rPr>
              <a:t>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comfort violations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34"/>
          <p:cNvSpPr/>
          <p:nvPr/>
        </p:nvSpPr>
        <p:spPr>
          <a:xfrm>
            <a:off x="9116640" y="5806440"/>
            <a:ext cx="2568960" cy="658080"/>
          </a:xfrm>
          <a:prstGeom prst="roundRect">
            <a:avLst>
              <a:gd name="adj" fmla="val 12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7CB38C"/>
                </a:solidFill>
                <a:effectLst/>
                <a:uFillTx/>
                <a:latin typeface="Bookman Old Style"/>
                <a:ea typeface="ＭＳ Ｐゴシック"/>
              </a:rPr>
              <a:t>0.45→0.26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mean |PMV| (improved)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3F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7D9368-8091-45BD-B059-240DA335FC94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Oval 8"/>
          <p:cNvSpPr/>
          <p:nvPr/>
        </p:nvSpPr>
        <p:spPr>
          <a:xfrm>
            <a:off x="50292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502920" y="384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1207080" y="384120"/>
            <a:ext cx="8686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12291E"/>
                </a:solidFill>
                <a:effectLst/>
                <a:uFillTx/>
                <a:latin typeface="Bookman Old Style"/>
                <a:ea typeface="ＭＳ Ｐゴシック"/>
              </a:rPr>
              <a:t>Technical Approach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Oval 11"/>
          <p:cNvSpPr/>
          <p:nvPr/>
        </p:nvSpPr>
        <p:spPr>
          <a:xfrm>
            <a:off x="1110996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12" descr="cog.png"/>
          <p:cNvPicPr/>
          <p:nvPr/>
        </p:nvPicPr>
        <p:blipFill>
          <a:blip r:embed="rId1"/>
          <a:stretch/>
        </p:blipFill>
        <p:spPr>
          <a:xfrm>
            <a:off x="11257200" y="531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ounded Rectangle 13"/>
          <p:cNvSpPr/>
          <p:nvPr/>
        </p:nvSpPr>
        <p:spPr>
          <a:xfrm>
            <a:off x="502920" y="1234440"/>
            <a:ext cx="3977280" cy="502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t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TECHNOLOGY STACK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Simulation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EnergyPlus 26.1 · pyenergyplus API · eppy builds run.idf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Cognition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Ollama — qwen2.5:7b brain, llama3.2:3b fallback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Agent bus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MCP · FastMCP over streamable-http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Comfort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Fanger PMV/PPD (ASHRAE 55)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Dashboard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Streamlit · Plotly · pandas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Ops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Python 3.12 · uv · Docker · GitHub Actions CI · ruff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HOW THE HARD PARTS ARE HANDLED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5000"/>
              </a:lnSpc>
              <a:spcAft>
                <a:spcPts val="300"/>
              </a:spcAft>
              <a:buClr>
                <a:srgbClr val="12291E"/>
              </a:buClr>
              <a:buFont typeface="OpenSymbol"/>
              <a:buChar char="▪"/>
            </a:pPr>
            <a:r>
              <a:rPr lang="en-US" sz="11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LLM sees only compact JSON + top-N .err lines — never raw logs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5000"/>
              </a:lnSpc>
              <a:spcAft>
                <a:spcPts val="300"/>
              </a:spcAft>
              <a:buClr>
                <a:srgbClr val="12291E"/>
              </a:buClr>
              <a:buFont typeface="OpenSymbol"/>
              <a:buChar char="▪"/>
            </a:pPr>
            <a:r>
              <a:rPr lang="en-US" sz="11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Set-point hold + small local model keeps the loop real-time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5000"/>
              </a:lnSpc>
              <a:spcAft>
                <a:spcPts val="300"/>
              </a:spcAft>
              <a:buClr>
                <a:srgbClr val="12291E"/>
              </a:buClr>
              <a:buFont typeface="OpenSymbol"/>
              <a:buChar char="▪"/>
            </a:pPr>
            <a:r>
              <a:rPr lang="en-US" sz="11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Strict contract: must call set_setpoints, temp 0.2, hard bounds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4"/>
          <p:cNvSpPr/>
          <p:nvPr/>
        </p:nvSpPr>
        <p:spPr>
          <a:xfrm>
            <a:off x="4663440" y="1234440"/>
            <a:ext cx="7040520" cy="416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15" descr="arch2.png"/>
          <p:cNvPicPr/>
          <p:nvPr/>
        </p:nvPicPr>
        <p:blipFill>
          <a:blip r:embed="rId2"/>
          <a:stretch/>
        </p:blipFill>
        <p:spPr>
          <a:xfrm>
            <a:off x="4846320" y="1371600"/>
            <a:ext cx="6674760" cy="38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Rounded Rectangle 16"/>
          <p:cNvSpPr/>
          <p:nvPr/>
        </p:nvSpPr>
        <p:spPr>
          <a:xfrm>
            <a:off x="4663440" y="5532120"/>
            <a:ext cx="7040520" cy="749520"/>
          </a:xfrm>
          <a:prstGeom prst="roundRect">
            <a:avLst>
              <a:gd name="adj" fmla="val 6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1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Working prototype — runs today: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164 consecutive hourly LLM decisions actuated into a live 7-day EnergyPlus co-simulation, zero stalls.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3F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1C6AB8-E2BC-4FC5-BB61-31AB9B3180FE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Oval 8"/>
          <p:cNvSpPr/>
          <p:nvPr/>
        </p:nvSpPr>
        <p:spPr>
          <a:xfrm>
            <a:off x="50292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502920" y="384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03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1207080" y="384120"/>
            <a:ext cx="8686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12291E"/>
                </a:solidFill>
                <a:effectLst/>
                <a:uFillTx/>
                <a:latin typeface="Bookman Old Style"/>
                <a:ea typeface="ＭＳ Ｐゴシック"/>
              </a:rPr>
              <a:t>Feasibility &amp; Viability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val 11"/>
          <p:cNvSpPr/>
          <p:nvPr/>
        </p:nvSpPr>
        <p:spPr>
          <a:xfrm>
            <a:off x="1110996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12" descr="check.png"/>
          <p:cNvPicPr/>
          <p:nvPr/>
        </p:nvPicPr>
        <p:blipFill>
          <a:blip r:embed="rId1"/>
          <a:stretch/>
        </p:blipFill>
        <p:spPr>
          <a:xfrm>
            <a:off x="11257200" y="531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ounded Rectangle 13"/>
          <p:cNvSpPr/>
          <p:nvPr/>
        </p:nvSpPr>
        <p:spPr>
          <a:xfrm>
            <a:off x="502920" y="1234440"/>
            <a:ext cx="258984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Oval 14"/>
          <p:cNvSpPr/>
          <p:nvPr/>
        </p:nvSpPr>
        <p:spPr>
          <a:xfrm>
            <a:off x="649080" y="1481400"/>
            <a:ext cx="383760" cy="38376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15" descr="check.png"/>
          <p:cNvPicPr/>
          <p:nvPr/>
        </p:nvPicPr>
        <p:blipFill>
          <a:blip r:embed="rId2"/>
          <a:stretch/>
        </p:blipFill>
        <p:spPr>
          <a:xfrm>
            <a:off x="749160" y="15811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16"/>
          <p:cNvSpPr/>
          <p:nvPr/>
        </p:nvSpPr>
        <p:spPr>
          <a:xfrm>
            <a:off x="1161360" y="1298520"/>
            <a:ext cx="183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$0 cost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100% open-source, offline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7"/>
          <p:cNvSpPr/>
          <p:nvPr/>
        </p:nvSpPr>
        <p:spPr>
          <a:xfrm>
            <a:off x="3367440" y="1234440"/>
            <a:ext cx="258984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Oval 18"/>
          <p:cNvSpPr/>
          <p:nvPr/>
        </p:nvSpPr>
        <p:spPr>
          <a:xfrm>
            <a:off x="3513600" y="1481400"/>
            <a:ext cx="383760" cy="38376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19" descr="server.png"/>
          <p:cNvPicPr/>
          <p:nvPr/>
        </p:nvPicPr>
        <p:blipFill>
          <a:blip r:embed="rId3"/>
          <a:stretch/>
        </p:blipFill>
        <p:spPr>
          <a:xfrm>
            <a:off x="3613320" y="15811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20"/>
          <p:cNvSpPr/>
          <p:nvPr/>
        </p:nvSpPr>
        <p:spPr>
          <a:xfrm>
            <a:off x="4025520" y="1298520"/>
            <a:ext cx="183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Laptop-scale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7B on 16 GB RAM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21"/>
          <p:cNvSpPr/>
          <p:nvPr/>
        </p:nvSpPr>
        <p:spPr>
          <a:xfrm>
            <a:off x="6231600" y="1234440"/>
            <a:ext cx="258984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val 22"/>
          <p:cNvSpPr/>
          <p:nvPr/>
        </p:nvSpPr>
        <p:spPr>
          <a:xfrm>
            <a:off x="6377760" y="1481400"/>
            <a:ext cx="383760" cy="38376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23" descr="code.png"/>
          <p:cNvPicPr/>
          <p:nvPr/>
        </p:nvPicPr>
        <p:blipFill>
          <a:blip r:embed="rId4"/>
          <a:stretch/>
        </p:blipFill>
        <p:spPr>
          <a:xfrm>
            <a:off x="6477840" y="15811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24"/>
          <p:cNvSpPr/>
          <p:nvPr/>
        </p:nvSpPr>
        <p:spPr>
          <a:xfrm>
            <a:off x="6890040" y="1298520"/>
            <a:ext cx="183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Engineered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52 tests · CI · ruff-clean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25"/>
          <p:cNvSpPr/>
          <p:nvPr/>
        </p:nvSpPr>
        <p:spPr>
          <a:xfrm>
            <a:off x="9096120" y="1234440"/>
            <a:ext cx="258984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90000" dir="5400000" dist="39960" rotWithShape="0">
              <a:srgbClr val="12291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Oval 26"/>
          <p:cNvSpPr/>
          <p:nvPr/>
        </p:nvSpPr>
        <p:spPr>
          <a:xfrm>
            <a:off x="9242280" y="1481400"/>
            <a:ext cx="383760" cy="38376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Picture 27" descr="sync.png"/>
          <p:cNvPicPr/>
          <p:nvPr/>
        </p:nvPicPr>
        <p:blipFill>
          <a:blip r:embed="rId5"/>
          <a:stretch/>
        </p:blipFill>
        <p:spPr>
          <a:xfrm>
            <a:off x="9342000" y="15811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28"/>
          <p:cNvSpPr/>
          <p:nvPr/>
        </p:nvSpPr>
        <p:spPr>
          <a:xfrm>
            <a:off x="9754200" y="1298520"/>
            <a:ext cx="1839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Deterministic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bundled weather + carbon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9"/>
          <p:cNvSpPr/>
          <p:nvPr/>
        </p:nvSpPr>
        <p:spPr>
          <a:xfrm>
            <a:off x="502920" y="2331720"/>
            <a:ext cx="11155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RISKS  →  MITIGATION  →  OBSERVED RESULT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30"/>
          <p:cNvSpPr/>
          <p:nvPr/>
        </p:nvSpPr>
        <p:spPr>
          <a:xfrm>
            <a:off x="502920" y="2697480"/>
            <a:ext cx="11182680" cy="658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31"/>
          <p:cNvSpPr/>
          <p:nvPr/>
        </p:nvSpPr>
        <p:spPr>
          <a:xfrm>
            <a:off x="685800" y="269748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LLM latency stalls the sim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2"/>
          <p:cNvSpPr/>
          <p:nvPr/>
        </p:nvSpPr>
        <p:spPr>
          <a:xfrm>
            <a:off x="4526280" y="269748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Hourly cadence + hold + timeout → rule fallback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33"/>
          <p:cNvSpPr/>
          <p:nvPr/>
        </p:nvSpPr>
        <p:spPr>
          <a:xfrm>
            <a:off x="9189720" y="2816280"/>
            <a:ext cx="2331360" cy="420120"/>
          </a:xfrm>
          <a:prstGeom prst="roundRect">
            <a:avLst>
              <a:gd name="adj" fmla="val 50000"/>
            </a:avLst>
          </a:prstGeom>
          <a:solidFill>
            <a:srgbClr val="C9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0 stalls / 7-day run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34"/>
          <p:cNvSpPr/>
          <p:nvPr/>
        </p:nvSpPr>
        <p:spPr>
          <a:xfrm>
            <a:off x="502920" y="3483720"/>
            <a:ext cx="11182680" cy="65808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5875">
            <a:solidFill>
              <a:srgbClr val="DDE7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5"/>
          <p:cNvSpPr/>
          <p:nvPr/>
        </p:nvSpPr>
        <p:spPr>
          <a:xfrm>
            <a:off x="685800" y="348372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LLM emits invalid set-points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6"/>
          <p:cNvSpPr/>
          <p:nvPr/>
        </p:nvSpPr>
        <p:spPr>
          <a:xfrm>
            <a:off x="4526280" y="348372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Validate &amp; clamp: heat 15–23°C, cool 22–30°C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37"/>
          <p:cNvSpPr/>
          <p:nvPr/>
        </p:nvSpPr>
        <p:spPr>
          <a:xfrm>
            <a:off x="9189720" y="3602880"/>
            <a:ext cx="2331360" cy="420120"/>
          </a:xfrm>
          <a:prstGeom prst="roundRect">
            <a:avLst>
              <a:gd name="adj" fmla="val 50000"/>
            </a:avLst>
          </a:prstGeom>
          <a:solidFill>
            <a:srgbClr val="C9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Every value bounded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38"/>
          <p:cNvSpPr/>
          <p:nvPr/>
        </p:nvSpPr>
        <p:spPr>
          <a:xfrm>
            <a:off x="502920" y="4270320"/>
            <a:ext cx="11182680" cy="658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7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9"/>
          <p:cNvSpPr/>
          <p:nvPr/>
        </p:nvSpPr>
        <p:spPr>
          <a:xfrm>
            <a:off x="685800" y="427032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Saves energy by hurting comfort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0"/>
          <p:cNvSpPr/>
          <p:nvPr/>
        </p:nvSpPr>
        <p:spPr>
          <a:xfrm>
            <a:off x="4526280" y="427032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Hard comfort bounds; PMV penalised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1"/>
          <p:cNvSpPr/>
          <p:nvPr/>
        </p:nvSpPr>
        <p:spPr>
          <a:xfrm>
            <a:off x="9189720" y="4389120"/>
            <a:ext cx="2331360" cy="420120"/>
          </a:xfrm>
          <a:prstGeom prst="roundRect">
            <a:avLst>
              <a:gd name="adj" fmla="val 50000"/>
            </a:avLst>
          </a:prstGeom>
          <a:solidFill>
            <a:srgbClr val="C9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|PMV| 0.45 → 0.26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42"/>
          <p:cNvSpPr/>
          <p:nvPr/>
        </p:nvSpPr>
        <p:spPr>
          <a:xfrm>
            <a:off x="502920" y="5056560"/>
            <a:ext cx="11182680" cy="65808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5875">
            <a:solidFill>
              <a:srgbClr val="DDE7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43"/>
          <p:cNvSpPr/>
          <p:nvPr/>
        </p:nvSpPr>
        <p:spPr>
          <a:xfrm>
            <a:off x="685800" y="505656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Unreliable tool-calling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4"/>
          <p:cNvSpPr/>
          <p:nvPr/>
        </p:nvSpPr>
        <p:spPr>
          <a:xfrm>
            <a:off x="4526280" y="505656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3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Strict schema + retry, else rule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45"/>
          <p:cNvSpPr/>
          <p:nvPr/>
        </p:nvSpPr>
        <p:spPr>
          <a:xfrm>
            <a:off x="9189720" y="5175360"/>
            <a:ext cx="2331360" cy="420120"/>
          </a:xfrm>
          <a:prstGeom prst="roundRect">
            <a:avLst>
              <a:gd name="adj" fmla="val 50000"/>
            </a:avLst>
          </a:prstGeom>
          <a:solidFill>
            <a:srgbClr val="C9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164 / 164, 0 fallbacks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46"/>
          <p:cNvSpPr/>
          <p:nvPr/>
        </p:nvSpPr>
        <p:spPr>
          <a:xfrm>
            <a:off x="502920" y="5742360"/>
            <a:ext cx="11182680" cy="731160"/>
          </a:xfrm>
          <a:prstGeom prst="roundRect">
            <a:avLst>
              <a:gd name="adj" fmla="val 6000"/>
            </a:avLst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algn="ctr" defTabSz="457200">
              <a:lnSpc>
                <a:spcPct val="112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SCALES TO REAL BUILDINGS 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— the same six MCP tools map 1:1 onto a live Building Management System. Swap the simulator for real sensor/actuator I/O; the agent logic is unchanged.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3F7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79D33E-9CBF-4792-AEA2-5DEC0ED54336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516359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Oval 8"/>
          <p:cNvSpPr/>
          <p:nvPr/>
        </p:nvSpPr>
        <p:spPr>
          <a:xfrm>
            <a:off x="50292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502920" y="384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04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1207080" y="384120"/>
            <a:ext cx="8686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12291E"/>
                </a:solidFill>
                <a:effectLst/>
                <a:uFillTx/>
                <a:latin typeface="Bookman Old Style"/>
                <a:ea typeface="ＭＳ Ｐゴシック"/>
              </a:rPr>
              <a:t>Artifacts &amp; 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Oval 11"/>
          <p:cNvSpPr/>
          <p:nvPr/>
        </p:nvSpPr>
        <p:spPr>
          <a:xfrm>
            <a:off x="1110996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9" name="Picture 12" descr="chart.png"/>
          <p:cNvPicPr/>
          <p:nvPr/>
        </p:nvPicPr>
        <p:blipFill>
          <a:blip r:embed="rId1"/>
          <a:stretch/>
        </p:blipFill>
        <p:spPr>
          <a:xfrm>
            <a:off x="11257200" y="531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Box 13"/>
          <p:cNvSpPr/>
          <p:nvPr/>
        </p:nvSpPr>
        <p:spPr>
          <a:xfrm>
            <a:off x="502920" y="120708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MEASURED · 7 JULY DAYS · CHICAGO EPW · IDENTICAL BUILDING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640080" y="155448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2" name="Table 15"/>
          <p:cNvGraphicFramePr/>
          <p:nvPr/>
        </p:nvGraphicFramePr>
        <p:xfrm>
          <a:off x="502920" y="1554480"/>
          <a:ext cx="5486040" cy="228564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463040"/>
                <a:gridCol w="1051560"/>
              </a:tblGrid>
              <a:tr h="571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Run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2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Energy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2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CO₂ (wt.)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2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vs base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3A2A"/>
                    </a:solidFill>
                  </a:tcPr>
                </a:tc>
              </a:tr>
              <a:tr h="571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Baseline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957 kWh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360.7 kg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Rule loop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922 kWh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347.4 kg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0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−3.6%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571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AI loop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924 kWh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12291E"/>
                          </a:solidFill>
                          <a:effectLst/>
                          <a:uFillTx/>
                          <a:latin typeface="Calibri"/>
                        </a:rPr>
                        <a:t>348.1 kg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lang="en-US" sz="1200" b="1" u="none" strike="noStrike">
                          <a:solidFill>
                            <a:srgbClr val="2C7A4B"/>
                          </a:solidFill>
                          <a:effectLst/>
                          <a:uFillTx/>
                          <a:latin typeface="Calibri"/>
                        </a:rPr>
                        <a:t>−3.5%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9E7D3"/>
                    </a:solidFill>
                  </a:tcPr>
                </a:tc>
              </a:tr>
            </a:tbl>
          </a:graphicData>
        </a:graphic>
      </p:graphicFrame>
      <p:sp>
        <p:nvSpPr>
          <p:cNvPr id="173" name="TextBox 16"/>
          <p:cNvSpPr/>
          <p:nvPr/>
        </p:nvSpPr>
        <p:spPr>
          <a:xfrm>
            <a:off x="502920" y="397764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16000" indent="-216000" defTabSz="457200">
              <a:lnSpc>
                <a:spcPct val="105000"/>
              </a:lnSpc>
              <a:spcAft>
                <a:spcPts val="300"/>
              </a:spcAft>
              <a:buClr>
                <a:srgbClr val="2C7A4B"/>
              </a:buClr>
              <a:buFont typeface="OpenSymbol"/>
              <a:buChar char="▪"/>
            </a:pPr>
            <a:r>
              <a:rPr lang="en-US" sz="125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164 / 164 </a:t>
            </a:r>
            <a:r>
              <a:rPr lang="en-US" sz="12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LLM decisions — 0 fallbacks, 0 crashes over the full run.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5000"/>
              </a:lnSpc>
              <a:spcAft>
                <a:spcPts val="400"/>
              </a:spcAft>
              <a:buClr>
                <a:srgbClr val="12291E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12291E"/>
                </a:solidFill>
                <a:effectLst/>
                <a:uFillTx/>
                <a:latin typeface="Calibri"/>
                <a:ea typeface="ＭＳ Ｐゴシック"/>
              </a:rPr>
              <a:t>Clean log: hour_id strictly 4→167, no duplicates.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7"/>
          <p:cNvSpPr/>
          <p:nvPr/>
        </p:nvSpPr>
        <p:spPr>
          <a:xfrm>
            <a:off x="502920" y="4892040"/>
            <a:ext cx="5486040" cy="1371240"/>
          </a:xfrm>
          <a:prstGeom prst="roundRect">
            <a:avLst>
              <a:gd name="adj" fmla="val 4000"/>
            </a:avLst>
          </a:prstGeom>
          <a:solidFill>
            <a:srgbClr val="1229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t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50" b="0" u="none" strike="noStrike">
                <a:solidFill>
                  <a:srgbClr val="7CB38C"/>
                </a:solidFill>
                <a:effectLst/>
                <a:uFillTx/>
                <a:latin typeface="Courier New"/>
                <a:ea typeface="ＭＳ Ｐゴシック"/>
              </a:rPr>
              <a:t>hour 4–6  night/empty  </a:t>
            </a: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ourier New"/>
                <a:ea typeface="ＭＳ Ｐゴシック"/>
              </a:rPr>
              <a:t>→ heat 15.0 cool 30.0  deep setback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50" b="0" u="none" strike="noStrike">
                <a:solidFill>
                  <a:srgbClr val="7CB38C"/>
                </a:solidFill>
                <a:effectLst/>
                <a:uFillTx/>
                <a:latin typeface="Courier New"/>
                <a:ea typeface="ＭＳ Ｐゴシック"/>
              </a:rPr>
              <a:t>hour 7    pre-open     </a:t>
            </a: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ourier New"/>
                <a:ea typeface="ＭＳ Ｐゴシック"/>
              </a:rPr>
              <a:t>→ heat 21.1 cool 25.0  pre-condition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50" b="0" u="none" strike="noStrike">
                <a:solidFill>
                  <a:srgbClr val="7CB38C"/>
                </a:solidFill>
                <a:effectLst/>
                <a:uFillTx/>
                <a:latin typeface="Courier New"/>
                <a:ea typeface="ＭＳ Ｐゴシック"/>
              </a:rPr>
              <a:t>hour 8–16 occupied     </a:t>
            </a: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ourier New"/>
                <a:ea typeface="ＭＳ Ｐゴシック"/>
              </a:rPr>
              <a:t>→ heat 21.6 cool 25.0  hold band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50" b="0" u="none" strike="noStrike">
                <a:solidFill>
                  <a:srgbClr val="7CB38C"/>
                </a:solidFill>
                <a:effectLst/>
                <a:uFillTx/>
                <a:latin typeface="Courier New"/>
                <a:ea typeface="ＭＳ Ｐゴシック"/>
              </a:rPr>
              <a:t>hour 18+  evening/empty</a:t>
            </a:r>
            <a:r>
              <a:rPr lang="en-US" sz="1050" b="0" u="none" strike="noStrike">
                <a:solidFill>
                  <a:srgbClr val="C9E7D3"/>
                </a:solidFill>
                <a:effectLst/>
                <a:uFillTx/>
                <a:latin typeface="Courier New"/>
                <a:ea typeface="ＭＳ Ｐゴシック"/>
              </a:rPr>
              <a:t>→ heat 15.0 cool 30.0  back to setback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8"/>
          <p:cNvSpPr/>
          <p:nvPr/>
        </p:nvSpPr>
        <p:spPr>
          <a:xfrm>
            <a:off x="6263640" y="1207080"/>
            <a:ext cx="5440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C7A4B"/>
                </a:solidFill>
                <a:effectLst/>
                <a:uFillTx/>
                <a:latin typeface="Calibri"/>
                <a:ea typeface="ＭＳ Ｐゴシック"/>
              </a:rPr>
              <a:t>LIVE STREAMLIT DASHBOARD  ·  localhost:8601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9" descr="c_energy.png"/>
          <p:cNvPicPr/>
          <p:nvPr/>
        </p:nvPicPr>
        <p:blipFill>
          <a:blip r:embed="rId2"/>
          <a:stretch/>
        </p:blipFill>
        <p:spPr>
          <a:xfrm>
            <a:off x="6263640" y="1517760"/>
            <a:ext cx="5440320" cy="210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20" descr="c_carbon.png"/>
          <p:cNvPicPr/>
          <p:nvPr/>
        </p:nvPicPr>
        <p:blipFill>
          <a:blip r:embed="rId3"/>
          <a:stretch/>
        </p:blipFill>
        <p:spPr>
          <a:xfrm>
            <a:off x="6263640" y="3703320"/>
            <a:ext cx="5440320" cy="21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21"/>
          <p:cNvSpPr/>
          <p:nvPr/>
        </p:nvSpPr>
        <p:spPr>
          <a:xfrm>
            <a:off x="6263640" y="5870520"/>
            <a:ext cx="5440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i="1" u="none" strike="noStrike">
                <a:solidFill>
                  <a:srgbClr val="516359"/>
                </a:solidFill>
                <a:effectLst/>
                <a:uFillTx/>
                <a:latin typeface="Calibri"/>
                <a:ea typeface="ＭＳ Ｐゴシック"/>
              </a:rPr>
              <a:t>Dashboard also plots zone temperature (comfort band shaded), hourly energy, applied set-points, PMV distribution &amp; the decision log.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0790A87-B0F9-45B7-B2AF-8F3024E3F392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46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7CB38C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7CB38C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Oval 8"/>
          <p:cNvSpPr/>
          <p:nvPr/>
        </p:nvSpPr>
        <p:spPr>
          <a:xfrm>
            <a:off x="50292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502920" y="384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05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207080" y="384120"/>
            <a:ext cx="8686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ＭＳ Ｐゴシック"/>
              </a:rPr>
              <a:t>Research &amp; References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Oval 11"/>
          <p:cNvSpPr/>
          <p:nvPr/>
        </p:nvSpPr>
        <p:spPr>
          <a:xfrm>
            <a:off x="11109960" y="384120"/>
            <a:ext cx="566640" cy="566640"/>
          </a:xfrm>
          <a:prstGeom prst="ellipse">
            <a:avLst/>
          </a:prstGeom>
          <a:solidFill>
            <a:srgbClr val="2C7A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6" name="Picture 12" descr="book.png"/>
          <p:cNvPicPr/>
          <p:nvPr/>
        </p:nvPicPr>
        <p:blipFill>
          <a:blip r:embed="rId1"/>
          <a:stretch/>
        </p:blipFill>
        <p:spPr>
          <a:xfrm>
            <a:off x="11257200" y="531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Rounded Rectangle 13"/>
          <p:cNvSpPr/>
          <p:nvPr/>
        </p:nvSpPr>
        <p:spPr>
          <a:xfrm>
            <a:off x="502920" y="137160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EnergyPlus (NREL / DOE)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whole-building simulation engine — energyplus.net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4"/>
          <p:cNvSpPr/>
          <p:nvPr/>
        </p:nvSpPr>
        <p:spPr>
          <a:xfrm>
            <a:off x="6126480" y="137160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pyenergyplus runtime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in-process co-simulation callbacks &amp; actuators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5"/>
          <p:cNvSpPr/>
          <p:nvPr/>
        </p:nvSpPr>
        <p:spPr>
          <a:xfrm>
            <a:off x="502920" y="242316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Model Context Protocol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open tool-calling standard — modelcontextprotocol.io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6"/>
          <p:cNvSpPr/>
          <p:nvPr/>
        </p:nvSpPr>
        <p:spPr>
          <a:xfrm>
            <a:off x="6126480" y="242316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Ollama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local open-source LLM serving — ollama.com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17"/>
          <p:cNvSpPr/>
          <p:nvPr/>
        </p:nvSpPr>
        <p:spPr>
          <a:xfrm>
            <a:off x="502920" y="347472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Qwen2.5 / Llama 3.2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open-weight models with native tool-calling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8"/>
          <p:cNvSpPr/>
          <p:nvPr/>
        </p:nvSpPr>
        <p:spPr>
          <a:xfrm>
            <a:off x="6126480" y="347472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ASHRAE 55 · Fanger PMV/PPD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thermal-comfort model for the comfort bound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9"/>
          <p:cNvSpPr/>
          <p:nvPr/>
        </p:nvSpPr>
        <p:spPr>
          <a:xfrm>
            <a:off x="502920" y="452628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DOE 5ZoneAirCooled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reference small-office building (base .idf)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20"/>
          <p:cNvSpPr/>
          <p:nvPr/>
        </p:nvSpPr>
        <p:spPr>
          <a:xfrm>
            <a:off x="6126480" y="4526280"/>
            <a:ext cx="5531760" cy="895680"/>
          </a:xfrm>
          <a:prstGeom prst="roundRect">
            <a:avLst>
              <a:gd name="adj" fmla="val 6000"/>
            </a:avLst>
          </a:prstGeom>
          <a:solidFill>
            <a:srgbClr val="244A36"/>
          </a:solidFill>
          <a:ln w="12700">
            <a:solidFill>
              <a:srgbClr val="2C7A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73080" rIns="109800" bIns="73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Grid carbon intensity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C9E7D3"/>
                </a:solidFill>
                <a:effectLst/>
                <a:uFillTx/>
                <a:latin typeface="Calibri"/>
                <a:ea typeface="ＭＳ Ｐゴシック"/>
              </a:rPr>
              <a:t>hourly gCO₂/kWh profile → carbon-aware control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502920" y="58064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i="1" u="none" strike="noStrike">
                <a:solidFill>
                  <a:srgbClr val="7CB38C"/>
                </a:solidFill>
                <a:effectLst/>
                <a:uFillTx/>
                <a:latin typeface="Calibri"/>
                <a:ea typeface="ＭＳ Ｐゴシック"/>
              </a:rPr>
              <a:t>All quantitative claims trace to committed run artifacts — data/*.csv · data/decisions.jsonl   ·   github.com/rag3frost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7669</TotalTime>
  <Application>LibreOffice/26.2.5.2$MacOSX_AARCH64 LibreOffice_project/cd7284b4cbbfeb507e630c1aac019f4157393acb</Application>
  <AppVersion>15.0000</AppVersion>
  <Words>320</Words>
  <Paragraphs>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/>
  <dc:description/>
  <dc:language>en-US</dc:language>
  <cp:lastModifiedBy/>
  <dcterms:modified xsi:type="dcterms:W3CDTF">2026-07-27T01:02:39Z</dcterms:modified>
  <cp:revision>155</cp:revision>
  <dc:subject/>
  <dc:title>Idea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